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4630400" cy="8229600"/>
  <p:notesSz cx="8229600" cy="14630400"/>
  <p:embeddedFontLst>
    <p:embeddedFont>
      <p:font typeface="Lora" pitchFamily="2" charset="0"/>
      <p:regular r:id="rId14"/>
    </p:embeddedFont>
    <p:embeddedFont>
      <p:font typeface="Source Sans Pro" panose="020B0503030403020204" pitchFamily="34" charset="0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528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8" d="100"/>
          <a:sy n="68" d="100"/>
        </p:scale>
        <p:origin x="715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316435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2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5283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2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5283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2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5283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2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5283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2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5283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2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5283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2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5283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2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5283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2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5283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2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5283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2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5283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324124" y="2656761"/>
            <a:ext cx="7468553" cy="14080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5500"/>
              </a:lnSpc>
              <a:buNone/>
            </a:pPr>
            <a:r>
              <a:rPr lang="en-US" sz="440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My </a:t>
            </a:r>
            <a:r>
              <a:rPr lang="en-US" sz="4400" dirty="0" err="1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KhataBook</a:t>
            </a:r>
            <a:r>
              <a:rPr lang="en-US" sz="440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: A Budget Manager</a:t>
            </a:r>
            <a:endParaRPr lang="en-US" sz="4400" dirty="0"/>
          </a:p>
        </p:txBody>
      </p:sp>
      <p:sp>
        <p:nvSpPr>
          <p:cNvPr id="4" name="Text 1"/>
          <p:cNvSpPr/>
          <p:nvPr/>
        </p:nvSpPr>
        <p:spPr>
          <a:xfrm>
            <a:off x="6324124" y="4423767"/>
            <a:ext cx="7468553" cy="114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1850" dirty="0">
                <a:solidFill>
                  <a:srgbClr val="D6E5E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This presentation explores the design and implementation of an Expense Tracker application built using Python, Tkinter for the user interface, SQLite for data storage, and Matplotlib for visualization.</a:t>
            </a:r>
            <a:endParaRPr lang="en-US" sz="185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D8ABB72-1197-32A1-AD82-D7D6045B2113}"/>
              </a:ext>
            </a:extLst>
          </p:cNvPr>
          <p:cNvSpPr/>
          <p:nvPr/>
        </p:nvSpPr>
        <p:spPr>
          <a:xfrm>
            <a:off x="12767733" y="7620000"/>
            <a:ext cx="1862667" cy="609600"/>
          </a:xfrm>
          <a:prstGeom prst="rect">
            <a:avLst/>
          </a:prstGeom>
          <a:solidFill>
            <a:srgbClr val="25283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2485787"/>
            <a:ext cx="7052548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500"/>
              </a:lnSpc>
              <a:buNone/>
            </a:pPr>
            <a:r>
              <a:rPr lang="en-US" sz="440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Introduction to the Project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837724" y="3788093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Purpose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37724" y="4379357"/>
            <a:ext cx="6185535" cy="114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1850" dirty="0">
                <a:solidFill>
                  <a:srgbClr val="D6E5E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The Budget and Expense tracker is a personal finance management tool designed to help individuals efficiently track and analyze their spending habits.</a:t>
            </a:r>
            <a:endParaRPr lang="en-US" sz="1850" dirty="0"/>
          </a:p>
        </p:txBody>
      </p:sp>
      <p:sp>
        <p:nvSpPr>
          <p:cNvPr id="5" name="Text 3"/>
          <p:cNvSpPr/>
          <p:nvPr/>
        </p:nvSpPr>
        <p:spPr>
          <a:xfrm>
            <a:off x="7614761" y="3788093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Target Audience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614761" y="4379357"/>
            <a:ext cx="6185535" cy="114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1850" dirty="0">
                <a:solidFill>
                  <a:srgbClr val="D6E5E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The application caters to individuals seeking a simple yet effective way to manage their finances, with a focus on intuitive user interface and data-driven insights.</a:t>
            </a:r>
            <a:endParaRPr lang="en-US" sz="185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A3B09BA-60DC-3EE6-F882-6BC16E4F8644}"/>
              </a:ext>
            </a:extLst>
          </p:cNvPr>
          <p:cNvSpPr/>
          <p:nvPr/>
        </p:nvSpPr>
        <p:spPr>
          <a:xfrm>
            <a:off x="12767733" y="7620000"/>
            <a:ext cx="1862667" cy="609600"/>
          </a:xfrm>
          <a:prstGeom prst="rect">
            <a:avLst/>
          </a:prstGeom>
          <a:solidFill>
            <a:srgbClr val="25283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37724" y="1549837"/>
            <a:ext cx="5632490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500"/>
              </a:lnSpc>
              <a:buNone/>
            </a:pPr>
            <a:r>
              <a:rPr lang="en-US" sz="440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Objectives and Goals</a:t>
            </a:r>
            <a:endParaRPr lang="en-US" sz="4400" dirty="0"/>
          </a:p>
        </p:txBody>
      </p:sp>
      <p:sp>
        <p:nvSpPr>
          <p:cNvPr id="4" name="Shape 1"/>
          <p:cNvSpPr/>
          <p:nvPr/>
        </p:nvSpPr>
        <p:spPr>
          <a:xfrm>
            <a:off x="837724" y="2882027"/>
            <a:ext cx="538520" cy="538520"/>
          </a:xfrm>
          <a:prstGeom prst="roundRect">
            <a:avLst>
              <a:gd name="adj" fmla="val 6668"/>
            </a:avLst>
          </a:prstGeom>
          <a:solidFill>
            <a:srgbClr val="444752"/>
          </a:solidFill>
          <a:ln/>
        </p:spPr>
      </p:sp>
      <p:sp>
        <p:nvSpPr>
          <p:cNvPr id="5" name="Text 2"/>
          <p:cNvSpPr/>
          <p:nvPr/>
        </p:nvSpPr>
        <p:spPr>
          <a:xfrm>
            <a:off x="1045369" y="2982277"/>
            <a:ext cx="123111" cy="3378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1</a:t>
            </a:r>
            <a:endParaRPr lang="en-US" sz="2650" dirty="0"/>
          </a:p>
        </p:txBody>
      </p:sp>
      <p:sp>
        <p:nvSpPr>
          <p:cNvPr id="6" name="Text 3"/>
          <p:cNvSpPr/>
          <p:nvPr/>
        </p:nvSpPr>
        <p:spPr>
          <a:xfrm>
            <a:off x="1615559" y="2882027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Objective 1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1615559" y="3377565"/>
            <a:ext cx="2836783" cy="114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1850" dirty="0">
                <a:solidFill>
                  <a:srgbClr val="D6E5E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Develop a user-friendly and interactive expense tracker application.</a:t>
            </a:r>
            <a:endParaRPr lang="en-US" sz="1850" dirty="0"/>
          </a:p>
        </p:txBody>
      </p:sp>
      <p:sp>
        <p:nvSpPr>
          <p:cNvPr id="8" name="Shape 5"/>
          <p:cNvSpPr/>
          <p:nvPr/>
        </p:nvSpPr>
        <p:spPr>
          <a:xfrm>
            <a:off x="4691658" y="2882027"/>
            <a:ext cx="538520" cy="538520"/>
          </a:xfrm>
          <a:prstGeom prst="roundRect">
            <a:avLst>
              <a:gd name="adj" fmla="val 6668"/>
            </a:avLst>
          </a:prstGeom>
          <a:solidFill>
            <a:srgbClr val="444752"/>
          </a:solidFill>
          <a:ln/>
        </p:spPr>
      </p:sp>
      <p:sp>
        <p:nvSpPr>
          <p:cNvPr id="9" name="Text 6"/>
          <p:cNvSpPr/>
          <p:nvPr/>
        </p:nvSpPr>
        <p:spPr>
          <a:xfrm>
            <a:off x="4870132" y="2982277"/>
            <a:ext cx="181570" cy="3378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2</a:t>
            </a:r>
            <a:endParaRPr lang="en-US" sz="2650" dirty="0"/>
          </a:p>
        </p:txBody>
      </p:sp>
      <p:sp>
        <p:nvSpPr>
          <p:cNvPr id="10" name="Text 7"/>
          <p:cNvSpPr/>
          <p:nvPr/>
        </p:nvSpPr>
        <p:spPr>
          <a:xfrm>
            <a:off x="5469493" y="2882027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Objective 2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5469493" y="3377565"/>
            <a:ext cx="2836783" cy="1532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1850" dirty="0">
                <a:solidFill>
                  <a:srgbClr val="D6E5E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Implement a robust database to store and manage user expense data efficiently.</a:t>
            </a:r>
            <a:endParaRPr lang="en-US" sz="1850" dirty="0"/>
          </a:p>
        </p:txBody>
      </p:sp>
      <p:sp>
        <p:nvSpPr>
          <p:cNvPr id="12" name="Shape 9"/>
          <p:cNvSpPr/>
          <p:nvPr/>
        </p:nvSpPr>
        <p:spPr>
          <a:xfrm>
            <a:off x="837724" y="5418177"/>
            <a:ext cx="538520" cy="538520"/>
          </a:xfrm>
          <a:prstGeom prst="roundRect">
            <a:avLst>
              <a:gd name="adj" fmla="val 6668"/>
            </a:avLst>
          </a:prstGeom>
          <a:solidFill>
            <a:srgbClr val="444752"/>
          </a:solidFill>
          <a:ln/>
        </p:spPr>
      </p:sp>
      <p:sp>
        <p:nvSpPr>
          <p:cNvPr id="13" name="Text 10"/>
          <p:cNvSpPr/>
          <p:nvPr/>
        </p:nvSpPr>
        <p:spPr>
          <a:xfrm>
            <a:off x="1012865" y="5518428"/>
            <a:ext cx="188238" cy="3378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3</a:t>
            </a:r>
            <a:endParaRPr lang="en-US" sz="2650" dirty="0"/>
          </a:p>
        </p:txBody>
      </p:sp>
      <p:sp>
        <p:nvSpPr>
          <p:cNvPr id="14" name="Text 11"/>
          <p:cNvSpPr/>
          <p:nvPr/>
        </p:nvSpPr>
        <p:spPr>
          <a:xfrm>
            <a:off x="1615559" y="5418177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Objective 3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1615559" y="5913715"/>
            <a:ext cx="6690717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1850" dirty="0">
                <a:solidFill>
                  <a:srgbClr val="D6E5E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Enable users to visualize their spending patterns through insightful charts and graphs.</a:t>
            </a:r>
            <a:endParaRPr lang="en-US" sz="1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37724" y="988338"/>
            <a:ext cx="7468553" cy="14080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5500"/>
              </a:lnSpc>
              <a:buNone/>
            </a:pPr>
            <a:r>
              <a:rPr lang="en-US" sz="440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Literature Review: 3 Related Papers</a:t>
            </a:r>
            <a:endParaRPr lang="en-US" sz="4400" dirty="0"/>
          </a:p>
        </p:txBody>
      </p:sp>
      <p:sp>
        <p:nvSpPr>
          <p:cNvPr id="4" name="Shape 1"/>
          <p:cNvSpPr/>
          <p:nvPr/>
        </p:nvSpPr>
        <p:spPr>
          <a:xfrm>
            <a:off x="837724" y="2755344"/>
            <a:ext cx="3614618" cy="2506266"/>
          </a:xfrm>
          <a:prstGeom prst="roundRect">
            <a:avLst>
              <a:gd name="adj" fmla="val 1433"/>
            </a:avLst>
          </a:prstGeom>
          <a:solidFill>
            <a:srgbClr val="444752"/>
          </a:solidFill>
          <a:ln/>
        </p:spPr>
      </p:sp>
      <p:sp>
        <p:nvSpPr>
          <p:cNvPr id="5" name="Text 2"/>
          <p:cNvSpPr/>
          <p:nvPr/>
        </p:nvSpPr>
        <p:spPr>
          <a:xfrm>
            <a:off x="1077039" y="2994660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Paper 1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077039" y="3490198"/>
            <a:ext cx="3135987" cy="1532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1850" dirty="0">
                <a:solidFill>
                  <a:srgbClr val="D6E5E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Title: "Personal Finance Management: A Review of Technology-Based Solutions" Author: Smith, J. (2023)</a:t>
            </a:r>
            <a:endParaRPr lang="en-US" sz="1850" dirty="0"/>
          </a:p>
        </p:txBody>
      </p:sp>
      <p:sp>
        <p:nvSpPr>
          <p:cNvPr id="7" name="Shape 4"/>
          <p:cNvSpPr/>
          <p:nvPr/>
        </p:nvSpPr>
        <p:spPr>
          <a:xfrm>
            <a:off x="4691658" y="2755344"/>
            <a:ext cx="3614618" cy="2506266"/>
          </a:xfrm>
          <a:prstGeom prst="roundRect">
            <a:avLst>
              <a:gd name="adj" fmla="val 1433"/>
            </a:avLst>
          </a:prstGeom>
          <a:solidFill>
            <a:srgbClr val="444752"/>
          </a:solidFill>
          <a:ln/>
        </p:spPr>
      </p:sp>
      <p:sp>
        <p:nvSpPr>
          <p:cNvPr id="8" name="Text 5"/>
          <p:cNvSpPr/>
          <p:nvPr/>
        </p:nvSpPr>
        <p:spPr>
          <a:xfrm>
            <a:off x="4930973" y="2994660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Paper 2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4930973" y="3490198"/>
            <a:ext cx="3135987" cy="1532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1850" dirty="0">
                <a:solidFill>
                  <a:srgbClr val="D6E5E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Title: "The Impact of Mobile Financial Apps on Personal Budgeting Behavior" Author: Jones, A. (2022)</a:t>
            </a:r>
            <a:endParaRPr lang="en-US" sz="1850" dirty="0"/>
          </a:p>
        </p:txBody>
      </p:sp>
      <p:sp>
        <p:nvSpPr>
          <p:cNvPr id="10" name="Shape 7"/>
          <p:cNvSpPr/>
          <p:nvPr/>
        </p:nvSpPr>
        <p:spPr>
          <a:xfrm>
            <a:off x="837724" y="5500926"/>
            <a:ext cx="7468553" cy="1740218"/>
          </a:xfrm>
          <a:prstGeom prst="roundRect">
            <a:avLst>
              <a:gd name="adj" fmla="val 2063"/>
            </a:avLst>
          </a:prstGeom>
          <a:solidFill>
            <a:srgbClr val="444752"/>
          </a:solidFill>
          <a:ln/>
        </p:spPr>
      </p:sp>
      <p:sp>
        <p:nvSpPr>
          <p:cNvPr id="11" name="Text 8"/>
          <p:cNvSpPr/>
          <p:nvPr/>
        </p:nvSpPr>
        <p:spPr>
          <a:xfrm>
            <a:off x="1077039" y="5740241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Paper 3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1077039" y="6235779"/>
            <a:ext cx="6989921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1850" dirty="0">
                <a:solidFill>
                  <a:srgbClr val="D6E5E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Title: "Data Visualization Techniques for Personal Finance Insights" Author: Williams, B. (2021)</a:t>
            </a:r>
            <a:endParaRPr lang="en-US" sz="1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37724" y="3008709"/>
            <a:ext cx="5632490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500"/>
              </a:lnSpc>
              <a:buNone/>
            </a:pPr>
            <a:r>
              <a:rPr lang="en-US" sz="440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Problem Statement</a:t>
            </a:r>
            <a:endParaRPr lang="en-US" sz="4400" dirty="0"/>
          </a:p>
        </p:txBody>
      </p:sp>
      <p:sp>
        <p:nvSpPr>
          <p:cNvPr id="4" name="Text 1"/>
          <p:cNvSpPr/>
          <p:nvPr/>
        </p:nvSpPr>
        <p:spPr>
          <a:xfrm>
            <a:off x="837724" y="4071699"/>
            <a:ext cx="7468553" cy="114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1850" dirty="0">
                <a:solidFill>
                  <a:srgbClr val="D6E5E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Many individuals struggle with managing their finances effectively, often lacking organized methods for tracking expenses and gaining insights into spending patterns.</a:t>
            </a:r>
            <a:endParaRPr lang="en-US" sz="1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81395" y="537091"/>
            <a:ext cx="4581406" cy="5726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4500"/>
              </a:lnSpc>
              <a:buNone/>
            </a:pPr>
            <a:r>
              <a:rPr lang="en-US" sz="360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Solution Approach</a:t>
            </a:r>
            <a:endParaRPr lang="en-US" sz="360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1395" y="1401842"/>
            <a:ext cx="486727" cy="486728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81395" y="2083237"/>
            <a:ext cx="2290643" cy="2863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Python</a:t>
            </a:r>
            <a:endParaRPr lang="en-US" sz="1800" dirty="0"/>
          </a:p>
        </p:txBody>
      </p:sp>
      <p:sp>
        <p:nvSpPr>
          <p:cNvPr id="6" name="Text 2"/>
          <p:cNvSpPr/>
          <p:nvPr/>
        </p:nvSpPr>
        <p:spPr>
          <a:xfrm>
            <a:off x="681395" y="2486382"/>
            <a:ext cx="7781211" cy="6229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00" dirty="0">
                <a:solidFill>
                  <a:srgbClr val="D6E5E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Python's versatility and extensive libraries made it the ideal choice for building the application's core functionality.</a:t>
            </a:r>
            <a:endParaRPr lang="en-US" sz="15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1395" y="3693438"/>
            <a:ext cx="486727" cy="486728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681395" y="4374832"/>
            <a:ext cx="2290643" cy="2863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SQLite</a:t>
            </a:r>
            <a:endParaRPr lang="en-US" sz="1800" dirty="0"/>
          </a:p>
        </p:txBody>
      </p:sp>
      <p:sp>
        <p:nvSpPr>
          <p:cNvPr id="9" name="Text 4"/>
          <p:cNvSpPr/>
          <p:nvPr/>
        </p:nvSpPr>
        <p:spPr>
          <a:xfrm>
            <a:off x="681395" y="4777978"/>
            <a:ext cx="7781211" cy="6229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00" dirty="0">
                <a:solidFill>
                  <a:srgbClr val="D6E5E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SQLite was chosen as the database system for its ease of use, portability, and efficiency in handling user expense data.</a:t>
            </a:r>
            <a:endParaRPr lang="en-US" sz="150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1395" y="5985034"/>
            <a:ext cx="486727" cy="486728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681395" y="6666428"/>
            <a:ext cx="2290643" cy="2863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Matplotlib</a:t>
            </a:r>
            <a:endParaRPr lang="en-US" sz="1800" dirty="0"/>
          </a:p>
        </p:txBody>
      </p:sp>
      <p:sp>
        <p:nvSpPr>
          <p:cNvPr id="12" name="Text 6"/>
          <p:cNvSpPr/>
          <p:nvPr/>
        </p:nvSpPr>
        <p:spPr>
          <a:xfrm>
            <a:off x="681395" y="7069574"/>
            <a:ext cx="7781211" cy="6229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00" dirty="0">
                <a:solidFill>
                  <a:srgbClr val="D6E5E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Matplotlib's data visualization capabilities enabled the development of insightful charts and graphs to analyze spending patterns.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3233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301502" y="640437"/>
            <a:ext cx="7068264" cy="6849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350"/>
              </a:lnSpc>
              <a:buNone/>
            </a:pPr>
            <a:r>
              <a:rPr lang="en-US" sz="430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User Interface and Features</a:t>
            </a:r>
            <a:endParaRPr lang="en-US" sz="4300" dirty="0"/>
          </a:p>
        </p:txBody>
      </p:sp>
      <p:sp>
        <p:nvSpPr>
          <p:cNvPr id="4" name="Shape 1"/>
          <p:cNvSpPr/>
          <p:nvPr/>
        </p:nvSpPr>
        <p:spPr>
          <a:xfrm>
            <a:off x="6635591" y="1674733"/>
            <a:ext cx="30480" cy="5917168"/>
          </a:xfrm>
          <a:prstGeom prst="roundRect">
            <a:avLst>
              <a:gd name="adj" fmla="val 114622"/>
            </a:avLst>
          </a:prstGeom>
          <a:solidFill>
            <a:srgbClr val="5D606B"/>
          </a:solidFill>
          <a:ln/>
        </p:spPr>
      </p:sp>
      <p:sp>
        <p:nvSpPr>
          <p:cNvPr id="5" name="Shape 2"/>
          <p:cNvSpPr/>
          <p:nvPr/>
        </p:nvSpPr>
        <p:spPr>
          <a:xfrm>
            <a:off x="6882348" y="2183368"/>
            <a:ext cx="815102" cy="30480"/>
          </a:xfrm>
          <a:prstGeom prst="roundRect">
            <a:avLst>
              <a:gd name="adj" fmla="val 114622"/>
            </a:avLst>
          </a:prstGeom>
          <a:solidFill>
            <a:srgbClr val="5D606B"/>
          </a:solidFill>
          <a:ln/>
        </p:spPr>
      </p:sp>
      <p:sp>
        <p:nvSpPr>
          <p:cNvPr id="6" name="Shape 3"/>
          <p:cNvSpPr/>
          <p:nvPr/>
        </p:nvSpPr>
        <p:spPr>
          <a:xfrm>
            <a:off x="6388834" y="1936671"/>
            <a:ext cx="523994" cy="523994"/>
          </a:xfrm>
          <a:prstGeom prst="roundRect">
            <a:avLst>
              <a:gd name="adj" fmla="val 6667"/>
            </a:avLst>
          </a:prstGeom>
          <a:solidFill>
            <a:srgbClr val="444752"/>
          </a:solidFill>
          <a:ln/>
        </p:spPr>
      </p:sp>
      <p:sp>
        <p:nvSpPr>
          <p:cNvPr id="7" name="Text 4"/>
          <p:cNvSpPr/>
          <p:nvPr/>
        </p:nvSpPr>
        <p:spPr>
          <a:xfrm>
            <a:off x="6590883" y="2034183"/>
            <a:ext cx="119777" cy="3288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50"/>
              </a:lnSpc>
              <a:buNone/>
            </a:pPr>
            <a:r>
              <a:rPr lang="en-US" sz="25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1</a:t>
            </a:r>
            <a:endParaRPr lang="en-US" sz="2550" dirty="0"/>
          </a:p>
        </p:txBody>
      </p:sp>
      <p:sp>
        <p:nvSpPr>
          <p:cNvPr id="8" name="Text 5"/>
          <p:cNvSpPr/>
          <p:nvPr/>
        </p:nvSpPr>
        <p:spPr>
          <a:xfrm>
            <a:off x="7931825" y="1907619"/>
            <a:ext cx="2740104" cy="3424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Add Expense</a:t>
            </a:r>
            <a:endParaRPr lang="en-US" sz="2150" dirty="0"/>
          </a:p>
        </p:txBody>
      </p:sp>
      <p:sp>
        <p:nvSpPr>
          <p:cNvPr id="9" name="Text 6"/>
          <p:cNvSpPr/>
          <p:nvPr/>
        </p:nvSpPr>
        <p:spPr>
          <a:xfrm>
            <a:off x="7931825" y="2389703"/>
            <a:ext cx="5883473" cy="7450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800" dirty="0">
                <a:solidFill>
                  <a:srgbClr val="D6E5E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Users can easily add expenses by specifying the date, category, and amount.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6882348" y="4109204"/>
            <a:ext cx="815102" cy="30480"/>
          </a:xfrm>
          <a:prstGeom prst="roundRect">
            <a:avLst>
              <a:gd name="adj" fmla="val 114622"/>
            </a:avLst>
          </a:prstGeom>
          <a:solidFill>
            <a:srgbClr val="5D606B"/>
          </a:solidFill>
          <a:ln/>
        </p:spPr>
      </p:sp>
      <p:sp>
        <p:nvSpPr>
          <p:cNvPr id="11" name="Shape 8"/>
          <p:cNvSpPr/>
          <p:nvPr/>
        </p:nvSpPr>
        <p:spPr>
          <a:xfrm>
            <a:off x="6388834" y="3862507"/>
            <a:ext cx="523994" cy="523994"/>
          </a:xfrm>
          <a:prstGeom prst="roundRect">
            <a:avLst>
              <a:gd name="adj" fmla="val 6667"/>
            </a:avLst>
          </a:prstGeom>
          <a:solidFill>
            <a:srgbClr val="444752"/>
          </a:solidFill>
          <a:ln/>
        </p:spPr>
      </p:sp>
      <p:sp>
        <p:nvSpPr>
          <p:cNvPr id="12" name="Text 9"/>
          <p:cNvSpPr/>
          <p:nvPr/>
        </p:nvSpPr>
        <p:spPr>
          <a:xfrm>
            <a:off x="6562546" y="3960019"/>
            <a:ext cx="176570" cy="3288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50"/>
              </a:lnSpc>
              <a:buNone/>
            </a:pPr>
            <a:r>
              <a:rPr lang="en-US" sz="25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2</a:t>
            </a:r>
            <a:endParaRPr lang="en-US" sz="2550" dirty="0"/>
          </a:p>
        </p:txBody>
      </p:sp>
      <p:sp>
        <p:nvSpPr>
          <p:cNvPr id="13" name="Text 10"/>
          <p:cNvSpPr/>
          <p:nvPr/>
        </p:nvSpPr>
        <p:spPr>
          <a:xfrm>
            <a:off x="7931825" y="3833455"/>
            <a:ext cx="2740104" cy="3424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View Expenses</a:t>
            </a:r>
            <a:endParaRPr lang="en-US" sz="2150" dirty="0"/>
          </a:p>
        </p:txBody>
      </p:sp>
      <p:sp>
        <p:nvSpPr>
          <p:cNvPr id="14" name="Text 11"/>
          <p:cNvSpPr/>
          <p:nvPr/>
        </p:nvSpPr>
        <p:spPr>
          <a:xfrm>
            <a:off x="7931825" y="4315539"/>
            <a:ext cx="5883473" cy="7450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800" dirty="0">
                <a:solidFill>
                  <a:srgbClr val="D6E5E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The application provides a clear view of all recorded expenses, organized by date or category.</a:t>
            </a:r>
            <a:endParaRPr lang="en-US" sz="1800" dirty="0"/>
          </a:p>
        </p:txBody>
      </p:sp>
      <p:sp>
        <p:nvSpPr>
          <p:cNvPr id="15" name="Shape 12"/>
          <p:cNvSpPr/>
          <p:nvPr/>
        </p:nvSpPr>
        <p:spPr>
          <a:xfrm>
            <a:off x="6882348" y="6035040"/>
            <a:ext cx="815102" cy="30480"/>
          </a:xfrm>
          <a:prstGeom prst="roundRect">
            <a:avLst>
              <a:gd name="adj" fmla="val 114622"/>
            </a:avLst>
          </a:prstGeom>
          <a:solidFill>
            <a:srgbClr val="5D606B"/>
          </a:solidFill>
          <a:ln/>
        </p:spPr>
      </p:sp>
      <p:sp>
        <p:nvSpPr>
          <p:cNvPr id="16" name="Shape 13"/>
          <p:cNvSpPr/>
          <p:nvPr/>
        </p:nvSpPr>
        <p:spPr>
          <a:xfrm>
            <a:off x="6388834" y="5788343"/>
            <a:ext cx="523994" cy="523994"/>
          </a:xfrm>
          <a:prstGeom prst="roundRect">
            <a:avLst>
              <a:gd name="adj" fmla="val 6667"/>
            </a:avLst>
          </a:prstGeom>
          <a:solidFill>
            <a:srgbClr val="444752"/>
          </a:solidFill>
          <a:ln/>
        </p:spPr>
      </p:sp>
      <p:sp>
        <p:nvSpPr>
          <p:cNvPr id="17" name="Text 14"/>
          <p:cNvSpPr/>
          <p:nvPr/>
        </p:nvSpPr>
        <p:spPr>
          <a:xfrm>
            <a:off x="6559213" y="5885855"/>
            <a:ext cx="183118" cy="3288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50"/>
              </a:lnSpc>
              <a:buNone/>
            </a:pPr>
            <a:r>
              <a:rPr lang="en-US" sz="25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3</a:t>
            </a:r>
            <a:endParaRPr lang="en-US" sz="2550" dirty="0"/>
          </a:p>
        </p:txBody>
      </p:sp>
      <p:sp>
        <p:nvSpPr>
          <p:cNvPr id="18" name="Text 15"/>
          <p:cNvSpPr/>
          <p:nvPr/>
        </p:nvSpPr>
        <p:spPr>
          <a:xfrm>
            <a:off x="7931825" y="5759291"/>
            <a:ext cx="2740104" cy="3424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Generate Reports</a:t>
            </a:r>
            <a:endParaRPr lang="en-US" sz="2150" dirty="0"/>
          </a:p>
        </p:txBody>
      </p:sp>
      <p:sp>
        <p:nvSpPr>
          <p:cNvPr id="19" name="Text 16"/>
          <p:cNvSpPr/>
          <p:nvPr/>
        </p:nvSpPr>
        <p:spPr>
          <a:xfrm>
            <a:off x="7931825" y="6241375"/>
            <a:ext cx="5883473" cy="1117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800" dirty="0">
                <a:solidFill>
                  <a:srgbClr val="D6E5E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Users can generate reports to analyze spending patterns, view monthly summaries, and track progress towards financial goals.</a:t>
            </a:r>
            <a:endParaRPr lang="en-US" sz="1800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3FABE93-73A0-4B1D-E604-DC3FC4612C19}"/>
              </a:ext>
            </a:extLst>
          </p:cNvPr>
          <p:cNvSpPr/>
          <p:nvPr/>
        </p:nvSpPr>
        <p:spPr>
          <a:xfrm>
            <a:off x="12767733" y="7620000"/>
            <a:ext cx="1862667" cy="609600"/>
          </a:xfrm>
          <a:prstGeom prst="rect">
            <a:avLst/>
          </a:prstGeom>
          <a:solidFill>
            <a:srgbClr val="25283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275022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69977" y="3355181"/>
            <a:ext cx="7841456" cy="6471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050"/>
              </a:lnSpc>
              <a:buNone/>
            </a:pPr>
            <a:r>
              <a:rPr lang="en-US" sz="405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Database Design and Operations</a:t>
            </a:r>
            <a:endParaRPr lang="en-US" sz="405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9977" y="4332208"/>
            <a:ext cx="4363403" cy="879991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989886" y="5542121"/>
            <a:ext cx="2588538" cy="3234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Data Storage</a:t>
            </a:r>
            <a:endParaRPr lang="en-US" sz="2000" dirty="0"/>
          </a:p>
        </p:txBody>
      </p:sp>
      <p:sp>
        <p:nvSpPr>
          <p:cNvPr id="6" name="Text 2"/>
          <p:cNvSpPr/>
          <p:nvPr/>
        </p:nvSpPr>
        <p:spPr>
          <a:xfrm>
            <a:off x="989886" y="5997535"/>
            <a:ext cx="3923586" cy="14077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dirty="0">
                <a:solidFill>
                  <a:srgbClr val="D6E5E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The SQLite database stores user expense data in a structured manner, with tables for expenses, categories, and user information.</a:t>
            </a:r>
            <a:endParaRPr lang="en-US" sz="17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33380" y="4332208"/>
            <a:ext cx="4363522" cy="879991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5353288" y="5542121"/>
            <a:ext cx="2588538" cy="3234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Data Retrieval</a:t>
            </a:r>
            <a:endParaRPr lang="en-US" sz="2000" dirty="0"/>
          </a:p>
        </p:txBody>
      </p:sp>
      <p:sp>
        <p:nvSpPr>
          <p:cNvPr id="9" name="Text 4"/>
          <p:cNvSpPr/>
          <p:nvPr/>
        </p:nvSpPr>
        <p:spPr>
          <a:xfrm>
            <a:off x="5353288" y="5997535"/>
            <a:ext cx="3923705" cy="10558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dirty="0">
                <a:solidFill>
                  <a:srgbClr val="D6E5E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The application utilizes SQL queries to retrieve specific expense data based on user input or predefined criteria.</a:t>
            </a:r>
            <a:endParaRPr lang="en-US" sz="170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96901" y="4332208"/>
            <a:ext cx="4363522" cy="879991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9716810" y="5542121"/>
            <a:ext cx="2588538" cy="3234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Data Updates</a:t>
            </a:r>
            <a:endParaRPr lang="en-US" sz="2000" dirty="0"/>
          </a:p>
        </p:txBody>
      </p:sp>
      <p:sp>
        <p:nvSpPr>
          <p:cNvPr id="12" name="Text 6"/>
          <p:cNvSpPr/>
          <p:nvPr/>
        </p:nvSpPr>
        <p:spPr>
          <a:xfrm>
            <a:off x="9716810" y="5997535"/>
            <a:ext cx="3923705" cy="10558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dirty="0">
                <a:solidFill>
                  <a:srgbClr val="D6E5E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The database allows for efficient updates and modifications to expense records as needed.</a:t>
            </a:r>
            <a:endParaRPr lang="en-US" sz="1700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3FF195D-79B3-3A94-EBD3-232DA1AFF30A}"/>
              </a:ext>
            </a:extLst>
          </p:cNvPr>
          <p:cNvSpPr/>
          <p:nvPr/>
        </p:nvSpPr>
        <p:spPr>
          <a:xfrm>
            <a:off x="12767733" y="7620000"/>
            <a:ext cx="1862667" cy="609600"/>
          </a:xfrm>
          <a:prstGeom prst="rect">
            <a:avLst/>
          </a:prstGeom>
          <a:solidFill>
            <a:srgbClr val="25283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13886" y="625197"/>
            <a:ext cx="5918121" cy="515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4050"/>
              </a:lnSpc>
              <a:buNone/>
            </a:pPr>
            <a:r>
              <a:rPr lang="en-US" sz="320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Data Visualization and Analysis</a:t>
            </a:r>
            <a:endParaRPr lang="en-US" sz="3200" dirty="0"/>
          </a:p>
        </p:txBody>
      </p:sp>
      <p:sp>
        <p:nvSpPr>
          <p:cNvPr id="4" name="Text 1"/>
          <p:cNvSpPr/>
          <p:nvPr/>
        </p:nvSpPr>
        <p:spPr>
          <a:xfrm>
            <a:off x="613886" y="1491615"/>
            <a:ext cx="7916227" cy="5787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550"/>
              </a:lnSpc>
              <a:buNone/>
            </a:pPr>
            <a:r>
              <a:rPr lang="en-US" sz="45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50%</a:t>
            </a:r>
            <a:endParaRPr lang="en-US" sz="4550" dirty="0"/>
          </a:p>
        </p:txBody>
      </p:sp>
      <p:sp>
        <p:nvSpPr>
          <p:cNvPr id="5" name="Text 2"/>
          <p:cNvSpPr/>
          <p:nvPr/>
        </p:nvSpPr>
        <p:spPr>
          <a:xfrm>
            <a:off x="3540204" y="2289453"/>
            <a:ext cx="2063472" cy="2578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000"/>
              </a:lnSpc>
              <a:buNone/>
            </a:pPr>
            <a:r>
              <a:rPr lang="en-US" sz="16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Category Analysis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613886" y="2652474"/>
            <a:ext cx="7916227" cy="5610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1350" dirty="0">
                <a:solidFill>
                  <a:srgbClr val="D6E5E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Pie charts provide a visual representation of the percentage of spending allocated to different expense categories.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613886" y="3827264"/>
            <a:ext cx="7916227" cy="5787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550"/>
              </a:lnSpc>
              <a:buNone/>
            </a:pPr>
            <a:r>
              <a:rPr lang="en-US" sz="45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25%</a:t>
            </a:r>
            <a:endParaRPr lang="en-US" sz="4550" dirty="0"/>
          </a:p>
        </p:txBody>
      </p:sp>
      <p:sp>
        <p:nvSpPr>
          <p:cNvPr id="8" name="Text 5"/>
          <p:cNvSpPr/>
          <p:nvPr/>
        </p:nvSpPr>
        <p:spPr>
          <a:xfrm>
            <a:off x="3540204" y="4625102"/>
            <a:ext cx="2063472" cy="2578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000"/>
              </a:lnSpc>
              <a:buNone/>
            </a:pPr>
            <a:r>
              <a:rPr lang="en-US" sz="16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Time Trends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613886" y="4988123"/>
            <a:ext cx="7916227" cy="2805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1350" dirty="0">
                <a:solidFill>
                  <a:srgbClr val="D6E5E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Line graphs illustrate spending trends over time, revealing patterns and potential areas for improvement.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613886" y="5882402"/>
            <a:ext cx="7916227" cy="5787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550"/>
              </a:lnSpc>
              <a:buNone/>
            </a:pPr>
            <a:r>
              <a:rPr lang="en-US" sz="45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25%</a:t>
            </a:r>
            <a:endParaRPr lang="en-US" sz="4550" dirty="0"/>
          </a:p>
        </p:txBody>
      </p:sp>
      <p:sp>
        <p:nvSpPr>
          <p:cNvPr id="11" name="Text 8"/>
          <p:cNvSpPr/>
          <p:nvPr/>
        </p:nvSpPr>
        <p:spPr>
          <a:xfrm>
            <a:off x="3540204" y="6680240"/>
            <a:ext cx="2063472" cy="2578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000"/>
              </a:lnSpc>
              <a:buNone/>
            </a:pPr>
            <a:r>
              <a:rPr lang="en-US" sz="16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Budgeting Insights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613886" y="7043261"/>
            <a:ext cx="7916227" cy="5610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1350" dirty="0">
                <a:solidFill>
                  <a:srgbClr val="D6E5E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Bar charts compare actual spending against budgeted amounts, providing insights into financial management effectiveness.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7008" y="649843"/>
            <a:ext cx="10112931" cy="694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450"/>
              </a:lnSpc>
              <a:buNone/>
            </a:pPr>
            <a:r>
              <a:rPr lang="en-US" sz="435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Real-World Applications and Use Cases</a:t>
            </a:r>
            <a:endParaRPr lang="en-US" sz="43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008" y="1817370"/>
            <a:ext cx="6310908" cy="390036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27008" y="6013133"/>
            <a:ext cx="2780109" cy="3474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Personal Finance</a:t>
            </a:r>
            <a:endParaRPr lang="en-US" sz="2150" dirty="0"/>
          </a:p>
        </p:txBody>
      </p:sp>
      <p:sp>
        <p:nvSpPr>
          <p:cNvPr id="5" name="Text 2"/>
          <p:cNvSpPr/>
          <p:nvPr/>
        </p:nvSpPr>
        <p:spPr>
          <a:xfrm>
            <a:off x="827008" y="6502241"/>
            <a:ext cx="6310908" cy="11344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50"/>
              </a:lnSpc>
              <a:buNone/>
            </a:pPr>
            <a:r>
              <a:rPr lang="en-US" sz="1850" dirty="0">
                <a:solidFill>
                  <a:srgbClr val="D6E5E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Individuals can track their daily spending, identify areas of overspending, and make informed decisions about their finances.</a:t>
            </a:r>
            <a:endParaRPr lang="en-US" sz="18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2365" y="1817370"/>
            <a:ext cx="6311027" cy="390048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492365" y="6013252"/>
            <a:ext cx="2780109" cy="3474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Business Expenses</a:t>
            </a:r>
            <a:endParaRPr lang="en-US" sz="2150" dirty="0"/>
          </a:p>
        </p:txBody>
      </p:sp>
      <p:sp>
        <p:nvSpPr>
          <p:cNvPr id="8" name="Text 4"/>
          <p:cNvSpPr/>
          <p:nvPr/>
        </p:nvSpPr>
        <p:spPr>
          <a:xfrm>
            <a:off x="7492365" y="6502360"/>
            <a:ext cx="6311027" cy="11344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50"/>
              </a:lnSpc>
              <a:buNone/>
            </a:pPr>
            <a:r>
              <a:rPr lang="en-US" sz="1850" dirty="0">
                <a:solidFill>
                  <a:srgbClr val="D6E5E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Businesses can utilize the Expense Tracker to track employee expenses, monitor spending patterns, and make informed financial decisions.</a:t>
            </a:r>
            <a:endParaRPr lang="en-US" sz="185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1E8A655-5F1A-D4D8-BD59-04AD21B65259}"/>
              </a:ext>
            </a:extLst>
          </p:cNvPr>
          <p:cNvSpPr/>
          <p:nvPr/>
        </p:nvSpPr>
        <p:spPr>
          <a:xfrm>
            <a:off x="12767733" y="7620000"/>
            <a:ext cx="1862667" cy="609600"/>
          </a:xfrm>
          <a:prstGeom prst="rect">
            <a:avLst/>
          </a:prstGeom>
          <a:solidFill>
            <a:srgbClr val="25283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682710" y="3410783"/>
            <a:ext cx="11264979" cy="1408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1050"/>
              </a:lnSpc>
              <a:buNone/>
            </a:pPr>
            <a:r>
              <a:rPr lang="en-US" sz="885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THANK YOU </a:t>
            </a:r>
            <a:endParaRPr lang="en-US" sz="885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A9B2736-6873-851C-E3F6-44188FEB0FEC}"/>
              </a:ext>
            </a:extLst>
          </p:cNvPr>
          <p:cNvSpPr/>
          <p:nvPr/>
        </p:nvSpPr>
        <p:spPr>
          <a:xfrm>
            <a:off x="12767733" y="7620000"/>
            <a:ext cx="1862667" cy="609600"/>
          </a:xfrm>
          <a:prstGeom prst="rect">
            <a:avLst/>
          </a:prstGeom>
          <a:solidFill>
            <a:srgbClr val="25283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564</Words>
  <Application>Microsoft Office PowerPoint</Application>
  <PresentationFormat>Custom</PresentationFormat>
  <Paragraphs>77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Source Sans Pro</vt:lpstr>
      <vt:lpstr>Lora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Raj Vardhan Singh</cp:lastModifiedBy>
  <cp:revision>4</cp:revision>
  <dcterms:created xsi:type="dcterms:W3CDTF">2024-12-08T13:54:29Z</dcterms:created>
  <dcterms:modified xsi:type="dcterms:W3CDTF">2024-12-20T16:01:02Z</dcterms:modified>
</cp:coreProperties>
</file>